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</p:sldIdLst>
  <p:sldSz cx="18288000" cy="10287000"/>
  <p:notesSz cx="6858000" cy="9144000"/>
  <p:embeddedFontLst>
    <p:embeddedFont>
      <p:font typeface="Alatsi" panose="020B0604020202020204" charset="0"/>
      <p:regular r:id="rId14"/>
    </p:embeddedFont>
    <p:embeddedFont>
      <p:font typeface="Open Sans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rjet.net/archives/V9/i7/IRJET-V9I7482.pdf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2"/>
          <p:cNvSpPr txBox="1"/>
          <p:nvPr/>
        </p:nvSpPr>
        <p:spPr>
          <a:xfrm>
            <a:off x="5867400" y="3640772"/>
            <a:ext cx="10062805" cy="3005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60"/>
              </a:lnSpc>
            </a:pPr>
            <a:r>
              <a:rPr lang="en-US" sz="80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Presentation Dynamics through Gesture 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38137" y="2445994"/>
            <a:ext cx="16811727" cy="6167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6651" lvl="1" indent="-343326" algn="l">
              <a:lnSpc>
                <a:spcPts val="4452"/>
              </a:lnSpc>
              <a:buAutoNum type="arabicPeriod"/>
            </a:pPr>
            <a:r>
              <a:rPr lang="en-US" sz="3180">
                <a:solidFill>
                  <a:srgbClr val="FF3131"/>
                </a:solidFill>
                <a:latin typeface="Alatsi"/>
                <a:ea typeface="Alatsi"/>
                <a:cs typeface="Alatsi"/>
                <a:sym typeface="Alatsi"/>
              </a:rPr>
              <a:t>Introduction</a:t>
            </a:r>
            <a:r>
              <a:rPr lang="en-US" sz="318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: Providing an overview of the project's objective and potential benefits.</a:t>
            </a:r>
          </a:p>
          <a:p>
            <a:pPr marL="686651" lvl="1" indent="-343326" algn="l">
              <a:lnSpc>
                <a:spcPts val="4452"/>
              </a:lnSpc>
              <a:buAutoNum type="arabicPeriod"/>
            </a:pPr>
            <a:r>
              <a:rPr lang="en-US" sz="3180">
                <a:solidFill>
                  <a:srgbClr val="FF3131"/>
                </a:solidFill>
                <a:latin typeface="Alatsi"/>
                <a:ea typeface="Alatsi"/>
                <a:cs typeface="Alatsi"/>
                <a:sym typeface="Alatsi"/>
              </a:rPr>
              <a:t>Gesture Recognition</a:t>
            </a:r>
            <a:r>
              <a:rPr lang="en-US" sz="318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: Developing algorithms to accurately detect and classify hand gestures.</a:t>
            </a:r>
          </a:p>
          <a:p>
            <a:pPr marL="686651" lvl="1" indent="-343326" algn="l">
              <a:lnSpc>
                <a:spcPts val="4452"/>
              </a:lnSpc>
              <a:buAutoNum type="arabicPeriod"/>
            </a:pPr>
            <a:r>
              <a:rPr lang="en-US" sz="3180">
                <a:solidFill>
                  <a:srgbClr val="FF3131"/>
                </a:solidFill>
                <a:latin typeface="Alatsi"/>
                <a:ea typeface="Alatsi"/>
                <a:cs typeface="Alatsi"/>
                <a:sym typeface="Alatsi"/>
              </a:rPr>
              <a:t>Integration with Presentation Software</a:t>
            </a:r>
            <a:r>
              <a:rPr lang="en-US" sz="318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: Creating a software interface to translate recognized gestures into actions within presentation software.</a:t>
            </a:r>
          </a:p>
          <a:p>
            <a:pPr marL="686651" lvl="1" indent="-343326" algn="l">
              <a:lnSpc>
                <a:spcPts val="4452"/>
              </a:lnSpc>
              <a:buAutoNum type="arabicPeriod"/>
            </a:pPr>
            <a:r>
              <a:rPr lang="en-US" sz="3180">
                <a:solidFill>
                  <a:srgbClr val="FF3131"/>
                </a:solidFill>
                <a:latin typeface="Alatsi"/>
                <a:ea typeface="Alatsi"/>
                <a:cs typeface="Alatsi"/>
                <a:sym typeface="Alatsi"/>
              </a:rPr>
              <a:t>User Interface Design</a:t>
            </a:r>
            <a:r>
              <a:rPr lang="en-US" sz="318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: Designing an intuitive interface for users to configure gesture commands.</a:t>
            </a:r>
          </a:p>
          <a:p>
            <a:pPr marL="686651" lvl="1" indent="-343326" algn="l">
              <a:lnSpc>
                <a:spcPts val="4452"/>
              </a:lnSpc>
              <a:buAutoNum type="arabicPeriod"/>
            </a:pPr>
            <a:r>
              <a:rPr lang="en-US" sz="3180">
                <a:solidFill>
                  <a:srgbClr val="FF3131"/>
                </a:solidFill>
                <a:latin typeface="Alatsi"/>
                <a:ea typeface="Alatsi"/>
                <a:cs typeface="Alatsi"/>
                <a:sym typeface="Alatsi"/>
              </a:rPr>
              <a:t>Implementation</a:t>
            </a:r>
            <a:r>
              <a:rPr lang="en-US" sz="318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: Detailing the technical setup and hardware/software requirements.</a:t>
            </a:r>
          </a:p>
          <a:p>
            <a:pPr marL="686651" lvl="1" indent="-343326" algn="l">
              <a:lnSpc>
                <a:spcPts val="4452"/>
              </a:lnSpc>
              <a:buAutoNum type="arabicPeriod"/>
            </a:pPr>
            <a:r>
              <a:rPr lang="en-US" sz="3180">
                <a:solidFill>
                  <a:srgbClr val="FF3131"/>
                </a:solidFill>
                <a:latin typeface="Alatsi"/>
                <a:ea typeface="Alatsi"/>
                <a:cs typeface="Alatsi"/>
                <a:sym typeface="Alatsi"/>
              </a:rPr>
              <a:t>Testing and Evaluation</a:t>
            </a:r>
            <a:r>
              <a:rPr lang="en-US" sz="318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: Conducting rigorous testing to assess system performance and user satisfaction.</a:t>
            </a:r>
          </a:p>
          <a:p>
            <a:pPr marL="686651" lvl="1" indent="-343326" algn="l">
              <a:lnSpc>
                <a:spcPts val="4452"/>
              </a:lnSpc>
              <a:buAutoNum type="arabicPeriod"/>
            </a:pPr>
            <a:r>
              <a:rPr lang="en-US" sz="3180">
                <a:solidFill>
                  <a:srgbClr val="FF3131"/>
                </a:solidFill>
                <a:latin typeface="Alatsi"/>
                <a:ea typeface="Alatsi"/>
                <a:cs typeface="Alatsi"/>
                <a:sym typeface="Alatsi"/>
              </a:rPr>
              <a:t>Conclusion</a:t>
            </a:r>
            <a:r>
              <a:rPr lang="en-US" sz="318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: Summarizing project outcomes and highlighting future directions.</a:t>
            </a:r>
          </a:p>
          <a:p>
            <a:pPr algn="l">
              <a:lnSpc>
                <a:spcPts val="4452"/>
              </a:lnSpc>
            </a:pPr>
            <a:endParaRPr lang="en-US" sz="3180">
              <a:solidFill>
                <a:srgbClr val="000000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553980" y="904875"/>
            <a:ext cx="13180039" cy="1217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OUTLINE OF THE PROJECT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8" name="Group 8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2553980" y="1014743"/>
            <a:ext cx="13180039" cy="1252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20"/>
              </a:lnSpc>
            </a:pPr>
            <a:r>
              <a:rPr lang="en-US" sz="73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INTRODUCTION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7" name="Group 7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869212" y="3214665"/>
            <a:ext cx="15030838" cy="4181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32"/>
              </a:lnSpc>
            </a:pPr>
            <a:r>
              <a:rPr lang="en-US" sz="338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1. Project goal: Introduce intuitive, hands-free slide control with hand gestures.</a:t>
            </a:r>
          </a:p>
          <a:p>
            <a:pPr algn="l">
              <a:lnSpc>
                <a:spcPts val="4732"/>
              </a:lnSpc>
            </a:pPr>
            <a:r>
              <a:rPr lang="en-US" sz="338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2. Utilization of computer vision and machine learning for gesture recognition.</a:t>
            </a:r>
          </a:p>
          <a:p>
            <a:pPr algn="l">
              <a:lnSpc>
                <a:spcPts val="4732"/>
              </a:lnSpc>
            </a:pPr>
            <a:r>
              <a:rPr lang="en-US" sz="338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3. Recognition of specific hand movements translates to slide navigation commands.</a:t>
            </a:r>
          </a:p>
          <a:p>
            <a:pPr algn="l">
              <a:lnSpc>
                <a:spcPts val="4732"/>
              </a:lnSpc>
            </a:pPr>
            <a:r>
              <a:rPr lang="en-US" sz="338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4. Predefined gestures like swiping left/right advance or go back slides.</a:t>
            </a:r>
          </a:p>
          <a:p>
            <a:pPr algn="l">
              <a:lnSpc>
                <a:spcPts val="4732"/>
              </a:lnSpc>
            </a:pPr>
            <a:r>
              <a:rPr lang="en-US" sz="338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5. Novel, interactive presentation delivery; replaces remote controls and mouse clicks.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18390" y="885825"/>
            <a:ext cx="10451219" cy="1252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20"/>
              </a:lnSpc>
            </a:pPr>
            <a:r>
              <a:rPr lang="en-US" sz="73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PROBLEM STATEMENT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1043842" y="3593727"/>
            <a:ext cx="6651535" cy="1936015"/>
            <a:chOff x="0" y="0"/>
            <a:chExt cx="8868713" cy="2581354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8868713" cy="2581354"/>
              <a:chOff x="0" y="0"/>
              <a:chExt cx="1751844" cy="509897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751844" cy="509897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509897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450537"/>
                    </a:lnTo>
                    <a:cubicBezTo>
                      <a:pt x="1751844" y="466280"/>
                      <a:pt x="1745590" y="481379"/>
                      <a:pt x="1734458" y="492511"/>
                    </a:cubicBezTo>
                    <a:cubicBezTo>
                      <a:pt x="1723326" y="503643"/>
                      <a:pt x="1708227" y="509897"/>
                      <a:pt x="1692484" y="509897"/>
                    </a:cubicBezTo>
                    <a:lnTo>
                      <a:pt x="59360" y="509897"/>
                    </a:lnTo>
                    <a:cubicBezTo>
                      <a:pt x="26577" y="509897"/>
                      <a:pt x="0" y="483320"/>
                      <a:pt x="0" y="450537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751844" cy="5479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695604" y="133350"/>
              <a:ext cx="7735510" cy="20750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93"/>
                </a:lnSpc>
              </a:pPr>
              <a:r>
                <a:rPr lang="en-US" sz="2995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 Limited mobility during presentations.</a:t>
              </a:r>
            </a:p>
            <a:p>
              <a:pPr algn="l">
                <a:lnSpc>
                  <a:spcPts val="4193"/>
                </a:lnSpc>
              </a:pPr>
              <a:endParaRPr lang="en-US" sz="2995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981683" y="2494269"/>
            <a:ext cx="4182217" cy="670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87"/>
              </a:lnSpc>
            </a:pPr>
            <a:r>
              <a:rPr lang="en-US" sz="391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First Problem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98998" y="2579164"/>
            <a:ext cx="8537474" cy="5971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2"/>
              </a:lnSpc>
            </a:pPr>
            <a:r>
              <a:rPr lang="en-US" sz="340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1. Traditional presentation control methods are often not interactive.</a:t>
            </a:r>
          </a:p>
          <a:p>
            <a:pPr algn="l">
              <a:lnSpc>
                <a:spcPts val="4772"/>
              </a:lnSpc>
            </a:pPr>
            <a:r>
              <a:rPr lang="en-US" sz="340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2. They can be cumbersome and limit presenter mobility.</a:t>
            </a:r>
          </a:p>
          <a:p>
            <a:pPr algn="l">
              <a:lnSpc>
                <a:spcPts val="4772"/>
              </a:lnSpc>
            </a:pPr>
            <a:r>
              <a:rPr lang="en-US" sz="340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3. Lack of engagement with the audience is a concern.</a:t>
            </a:r>
          </a:p>
          <a:p>
            <a:pPr algn="l">
              <a:lnSpc>
                <a:spcPts val="4772"/>
              </a:lnSpc>
            </a:pPr>
            <a:r>
              <a:rPr lang="en-US" sz="340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4. There's a need for more intuitive and engaging control approaches.</a:t>
            </a:r>
          </a:p>
          <a:p>
            <a:pPr algn="l">
              <a:lnSpc>
                <a:spcPts val="4772"/>
              </a:lnSpc>
            </a:pPr>
            <a:r>
              <a:rPr lang="en-US" sz="340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5. Current methods may hinder interaction with the audience.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1043842" y="6739482"/>
            <a:ext cx="6651535" cy="2465844"/>
            <a:chOff x="0" y="0"/>
            <a:chExt cx="8868713" cy="3287792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695604" y="133350"/>
              <a:ext cx="7735510" cy="27814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93"/>
                </a:lnSpc>
              </a:pPr>
              <a:r>
                <a:rPr lang="en-US" sz="2995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Potential distractions caused by managing external devices.</a:t>
              </a:r>
            </a:p>
            <a:p>
              <a:pPr algn="l">
                <a:lnSpc>
                  <a:spcPts val="4193"/>
                </a:lnSpc>
              </a:pPr>
              <a:endParaRPr lang="en-US" sz="2995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  <a:p>
              <a:pPr algn="l">
                <a:lnSpc>
                  <a:spcPts val="4193"/>
                </a:lnSpc>
              </a:pPr>
              <a:endParaRPr lang="en-US" sz="2995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582427" y="5874732"/>
            <a:ext cx="5276728" cy="670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87"/>
              </a:lnSpc>
            </a:pPr>
            <a:r>
              <a:rPr lang="en-US" sz="391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Second Problem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9" name="Group 19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9544" y="336370"/>
            <a:ext cx="16230600" cy="145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OBJECTIVES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2425520"/>
            <a:ext cx="6243085" cy="2829328"/>
            <a:chOff x="0" y="0"/>
            <a:chExt cx="1644269" cy="74517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44269" cy="745173"/>
            </a:xfrm>
            <a:custGeom>
              <a:avLst/>
              <a:gdLst/>
              <a:ahLst/>
              <a:cxnLst/>
              <a:rect l="l" t="t" r="r" b="b"/>
              <a:pathLst>
                <a:path w="1644269" h="745173">
                  <a:moveTo>
                    <a:pt x="63244" y="0"/>
                  </a:moveTo>
                  <a:lnTo>
                    <a:pt x="1581025" y="0"/>
                  </a:lnTo>
                  <a:cubicBezTo>
                    <a:pt x="1597798" y="0"/>
                    <a:pt x="1613885" y="6663"/>
                    <a:pt x="1625746" y="18524"/>
                  </a:cubicBezTo>
                  <a:cubicBezTo>
                    <a:pt x="1637606" y="30384"/>
                    <a:pt x="1644269" y="46471"/>
                    <a:pt x="1644269" y="63244"/>
                  </a:cubicBezTo>
                  <a:lnTo>
                    <a:pt x="1644269" y="681929"/>
                  </a:lnTo>
                  <a:cubicBezTo>
                    <a:pt x="1644269" y="698702"/>
                    <a:pt x="1637606" y="714788"/>
                    <a:pt x="1625746" y="726649"/>
                  </a:cubicBezTo>
                  <a:cubicBezTo>
                    <a:pt x="1613885" y="738510"/>
                    <a:pt x="1597798" y="745173"/>
                    <a:pt x="1581025" y="745173"/>
                  </a:cubicBezTo>
                  <a:lnTo>
                    <a:pt x="63244" y="745173"/>
                  </a:lnTo>
                  <a:cubicBezTo>
                    <a:pt x="46471" y="745173"/>
                    <a:pt x="30384" y="738510"/>
                    <a:pt x="18524" y="726649"/>
                  </a:cubicBezTo>
                  <a:cubicBezTo>
                    <a:pt x="6663" y="714788"/>
                    <a:pt x="0" y="698702"/>
                    <a:pt x="0" y="681929"/>
                  </a:cubicBezTo>
                  <a:lnTo>
                    <a:pt x="0" y="63244"/>
                  </a:lnTo>
                  <a:cubicBezTo>
                    <a:pt x="0" y="46471"/>
                    <a:pt x="6663" y="30384"/>
                    <a:pt x="18524" y="18524"/>
                  </a:cubicBezTo>
                  <a:cubicBezTo>
                    <a:pt x="30384" y="6663"/>
                    <a:pt x="46471" y="0"/>
                    <a:pt x="63244" y="0"/>
                  </a:cubicBez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644269" cy="783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284791" y="3601236"/>
            <a:ext cx="5499127" cy="1073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Designing a user-friendly interface for customization.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14463" y="2724985"/>
            <a:ext cx="387823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Objective 1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675836" y="2458005"/>
            <a:ext cx="6433131" cy="2796843"/>
            <a:chOff x="0" y="0"/>
            <a:chExt cx="1694323" cy="73661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94323" cy="736617"/>
            </a:xfrm>
            <a:custGeom>
              <a:avLst/>
              <a:gdLst/>
              <a:ahLst/>
              <a:cxnLst/>
              <a:rect l="l" t="t" r="r" b="b"/>
              <a:pathLst>
                <a:path w="1694323" h="736617">
                  <a:moveTo>
                    <a:pt x="61376" y="0"/>
                  </a:moveTo>
                  <a:lnTo>
                    <a:pt x="1632947" y="0"/>
                  </a:lnTo>
                  <a:cubicBezTo>
                    <a:pt x="1666844" y="0"/>
                    <a:pt x="1694323" y="27479"/>
                    <a:pt x="1694323" y="61376"/>
                  </a:cubicBezTo>
                  <a:lnTo>
                    <a:pt x="1694323" y="675241"/>
                  </a:lnTo>
                  <a:cubicBezTo>
                    <a:pt x="1694323" y="691519"/>
                    <a:pt x="1687856" y="707130"/>
                    <a:pt x="1676346" y="718641"/>
                  </a:cubicBezTo>
                  <a:cubicBezTo>
                    <a:pt x="1664836" y="730151"/>
                    <a:pt x="1649225" y="736617"/>
                    <a:pt x="1632947" y="736617"/>
                  </a:cubicBezTo>
                  <a:lnTo>
                    <a:pt x="61376" y="736617"/>
                  </a:lnTo>
                  <a:cubicBezTo>
                    <a:pt x="27479" y="736617"/>
                    <a:pt x="0" y="709138"/>
                    <a:pt x="0" y="675241"/>
                  </a:cubicBezTo>
                  <a:lnTo>
                    <a:pt x="0" y="61376"/>
                  </a:lnTo>
                  <a:cubicBezTo>
                    <a:pt x="0" y="45098"/>
                    <a:pt x="6466" y="29487"/>
                    <a:pt x="17977" y="17977"/>
                  </a:cubicBezTo>
                  <a:cubicBezTo>
                    <a:pt x="29487" y="6466"/>
                    <a:pt x="45098" y="0"/>
                    <a:pt x="61376" y="0"/>
                  </a:cubicBez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694323" cy="774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925647" y="3620286"/>
            <a:ext cx="6183320" cy="1402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2"/>
              </a:lnSpc>
            </a:pPr>
            <a:r>
              <a:rPr lang="en-US" sz="270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Integrating the gesture recognition system with presentation software for seamless control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5647" y="2724985"/>
            <a:ext cx="387823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Objective 2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7" name="Group 17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612630" y="5657301"/>
            <a:ext cx="6754056" cy="3032366"/>
            <a:chOff x="0" y="0"/>
            <a:chExt cx="1778846" cy="79864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778846" cy="798648"/>
            </a:xfrm>
            <a:custGeom>
              <a:avLst/>
              <a:gdLst/>
              <a:ahLst/>
              <a:cxnLst/>
              <a:rect l="l" t="t" r="r" b="b"/>
              <a:pathLst>
                <a:path w="1778846" h="798648">
                  <a:moveTo>
                    <a:pt x="58459" y="0"/>
                  </a:moveTo>
                  <a:lnTo>
                    <a:pt x="1720386" y="0"/>
                  </a:lnTo>
                  <a:cubicBezTo>
                    <a:pt x="1752673" y="0"/>
                    <a:pt x="1778846" y="26173"/>
                    <a:pt x="1778846" y="58459"/>
                  </a:cubicBezTo>
                  <a:lnTo>
                    <a:pt x="1778846" y="740188"/>
                  </a:lnTo>
                  <a:cubicBezTo>
                    <a:pt x="1778846" y="772475"/>
                    <a:pt x="1752673" y="798648"/>
                    <a:pt x="1720386" y="798648"/>
                  </a:cubicBezTo>
                  <a:lnTo>
                    <a:pt x="58459" y="798648"/>
                  </a:lnTo>
                  <a:cubicBezTo>
                    <a:pt x="26173" y="798648"/>
                    <a:pt x="0" y="772475"/>
                    <a:pt x="0" y="740188"/>
                  </a:cubicBezTo>
                  <a:lnTo>
                    <a:pt x="0" y="58459"/>
                  </a:lnTo>
                  <a:cubicBezTo>
                    <a:pt x="0" y="26173"/>
                    <a:pt x="26173" y="0"/>
                    <a:pt x="58459" y="0"/>
                  </a:cubicBez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778846" cy="836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6240094" y="6065974"/>
            <a:ext cx="3423710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Objective 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240094" y="7072956"/>
            <a:ext cx="5499127" cy="1616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Implement gesture recognition for diverse commands.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00000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66775"/>
            <a:ext cx="16230600" cy="145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LITERARY REVIEW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162822" y="9827255"/>
            <a:ext cx="15069446" cy="1431443"/>
            <a:chOff x="0" y="0"/>
            <a:chExt cx="20092595" cy="1908590"/>
          </a:xfrm>
        </p:grpSpPr>
        <p:sp>
          <p:nvSpPr>
            <p:cNvPr id="4" name="TextBox 4"/>
            <p:cNvSpPr txBox="1"/>
            <p:nvPr/>
          </p:nvSpPr>
          <p:spPr>
            <a:xfrm>
              <a:off x="0" y="-66675"/>
              <a:ext cx="20092595" cy="6892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22"/>
                </a:lnSpc>
              </a:pPr>
              <a:endParaRPr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219388"/>
              <a:ext cx="20092595" cy="6892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22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2" name="Group 12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5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2782399" y="2898774"/>
            <a:ext cx="12723203" cy="5136098"/>
          </a:xfrm>
          <a:custGeom>
            <a:avLst/>
            <a:gdLst/>
            <a:ahLst/>
            <a:cxnLst/>
            <a:rect l="l" t="t" r="r" b="b"/>
            <a:pathLst>
              <a:path w="12723203" h="5136098">
                <a:moveTo>
                  <a:pt x="0" y="0"/>
                </a:moveTo>
                <a:lnTo>
                  <a:pt x="12723202" y="0"/>
                </a:lnTo>
                <a:lnTo>
                  <a:pt x="12723202" y="5136099"/>
                </a:lnTo>
                <a:lnTo>
                  <a:pt x="0" y="51360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66775"/>
            <a:ext cx="16230600" cy="145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LITERARY REVIEW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352321" y="9827255"/>
            <a:ext cx="15069446" cy="1431443"/>
            <a:chOff x="0" y="0"/>
            <a:chExt cx="20092595" cy="1908590"/>
          </a:xfrm>
        </p:grpSpPr>
        <p:sp>
          <p:nvSpPr>
            <p:cNvPr id="4" name="TextBox 4"/>
            <p:cNvSpPr txBox="1"/>
            <p:nvPr/>
          </p:nvSpPr>
          <p:spPr>
            <a:xfrm>
              <a:off x="0" y="-66675"/>
              <a:ext cx="20092595" cy="6892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22"/>
                </a:lnSpc>
              </a:pPr>
              <a:endParaRPr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219388"/>
              <a:ext cx="20092595" cy="6892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22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27362" y="0"/>
            <a:ext cx="937061" cy="10287000"/>
            <a:chOff x="0" y="0"/>
            <a:chExt cx="246798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6798" cy="2709333"/>
            </a:xfrm>
            <a:custGeom>
              <a:avLst/>
              <a:gdLst/>
              <a:ahLst/>
              <a:cxnLst/>
              <a:rect l="l" t="t" r="r" b="b"/>
              <a:pathLst>
                <a:path w="246798" h="2709333">
                  <a:moveTo>
                    <a:pt x="0" y="0"/>
                  </a:moveTo>
                  <a:lnTo>
                    <a:pt x="246798" y="0"/>
                  </a:lnTo>
                  <a:lnTo>
                    <a:pt x="24679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3EB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46798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2" name="Group 12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6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2870111" y="3410418"/>
            <a:ext cx="12547778" cy="4736038"/>
          </a:xfrm>
          <a:custGeom>
            <a:avLst/>
            <a:gdLst/>
            <a:ahLst/>
            <a:cxnLst/>
            <a:rect l="l" t="t" r="r" b="b"/>
            <a:pathLst>
              <a:path w="12547778" h="4736038">
                <a:moveTo>
                  <a:pt x="0" y="0"/>
                </a:moveTo>
                <a:lnTo>
                  <a:pt x="12547778" y="0"/>
                </a:lnTo>
                <a:lnTo>
                  <a:pt x="12547778" y="4736038"/>
                </a:lnTo>
                <a:lnTo>
                  <a:pt x="0" y="47360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2553980" y="904875"/>
            <a:ext cx="13180039" cy="1094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60"/>
              </a:lnSpc>
            </a:pPr>
            <a:r>
              <a:rPr lang="en-US" sz="64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PROPOSED SYSTEM INTRODUCTION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7" name="Group 7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7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761419" y="3180466"/>
            <a:ext cx="14879042" cy="3211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2"/>
              </a:lnSpc>
            </a:pPr>
            <a:r>
              <a:rPr lang="en-US" sz="368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1. Hands-free slide navigation with Gesture-Controlled PowerPoint.</a:t>
            </a:r>
          </a:p>
          <a:p>
            <a:pPr algn="l">
              <a:lnSpc>
                <a:spcPts val="5152"/>
              </a:lnSpc>
            </a:pPr>
            <a:r>
              <a:rPr lang="en-US" sz="368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2. Utilizes computer vision and AI for intuitive slide control.</a:t>
            </a:r>
          </a:p>
          <a:p>
            <a:pPr algn="l">
              <a:lnSpc>
                <a:spcPts val="5152"/>
              </a:lnSpc>
            </a:pPr>
            <a:r>
              <a:rPr lang="en-US" sz="368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3. Enhances engagement and interactivity in presentations.</a:t>
            </a:r>
          </a:p>
          <a:p>
            <a:pPr algn="l">
              <a:lnSpc>
                <a:spcPts val="5152"/>
              </a:lnSpc>
            </a:pPr>
            <a:r>
              <a:rPr lang="en-US" sz="368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4. Simple hand gestures replace traditional input methods.</a:t>
            </a:r>
          </a:p>
          <a:p>
            <a:pPr algn="l">
              <a:lnSpc>
                <a:spcPts val="5152"/>
              </a:lnSpc>
            </a:pPr>
            <a:r>
              <a:rPr lang="en-US" sz="368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5. Integration of OpenCV ensures efficiency and user-friendliness.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36347" y="904875"/>
            <a:ext cx="15815306" cy="1217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PROPOSED SYSTEM DIAGRAM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4" name="Group 4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8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1236347" y="3362069"/>
            <a:ext cx="16022953" cy="3851416"/>
          </a:xfrm>
          <a:custGeom>
            <a:avLst/>
            <a:gdLst/>
            <a:ahLst/>
            <a:cxnLst/>
            <a:rect l="l" t="t" r="r" b="b"/>
            <a:pathLst>
              <a:path w="16022953" h="3851416">
                <a:moveTo>
                  <a:pt x="0" y="0"/>
                </a:moveTo>
                <a:lnTo>
                  <a:pt x="16022953" y="0"/>
                </a:lnTo>
                <a:lnTo>
                  <a:pt x="16022953" y="3851415"/>
                </a:lnTo>
                <a:lnTo>
                  <a:pt x="0" y="38514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838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793120" y="2726106"/>
            <a:ext cx="14847341" cy="580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0445" lvl="1" indent="-395222" algn="l">
              <a:lnSpc>
                <a:spcPts val="5125"/>
              </a:lnSpc>
              <a:buAutoNum type="arabicPeriod"/>
            </a:pPr>
            <a:r>
              <a:rPr lang="en-US" sz="3661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Hand Tracking Module</a:t>
            </a:r>
          </a:p>
          <a:p>
            <a:pPr marL="790445" lvl="1" indent="-395222" algn="l">
              <a:lnSpc>
                <a:spcPts val="5125"/>
              </a:lnSpc>
              <a:buAutoNum type="arabicPeriod"/>
            </a:pPr>
            <a:r>
              <a:rPr lang="en-US" sz="3661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Camera Setup</a:t>
            </a:r>
          </a:p>
          <a:p>
            <a:pPr marL="790445" lvl="1" indent="-395222" algn="l">
              <a:lnSpc>
                <a:spcPts val="5125"/>
              </a:lnSpc>
              <a:buAutoNum type="arabicPeriod"/>
            </a:pPr>
            <a:r>
              <a:rPr lang="en-US" sz="3661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Variables and Parameters</a:t>
            </a:r>
          </a:p>
          <a:p>
            <a:pPr marL="790445" lvl="1" indent="-395222" algn="l">
              <a:lnSpc>
                <a:spcPts val="5125"/>
              </a:lnSpc>
              <a:buAutoNum type="arabicPeriod"/>
            </a:pPr>
            <a:r>
              <a:rPr lang="en-US" sz="3661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Gesture Detection</a:t>
            </a:r>
          </a:p>
          <a:p>
            <a:pPr marL="790445" lvl="1" indent="-395222" algn="l">
              <a:lnSpc>
                <a:spcPts val="5125"/>
              </a:lnSpc>
              <a:buAutoNum type="arabicPeriod"/>
            </a:pPr>
            <a:r>
              <a:rPr lang="en-US" sz="3661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Slide Navigation</a:t>
            </a:r>
          </a:p>
          <a:p>
            <a:pPr marL="790445" lvl="1" indent="-395222" algn="l">
              <a:lnSpc>
                <a:spcPts val="5125"/>
              </a:lnSpc>
              <a:buAutoNum type="arabicPeriod"/>
            </a:pPr>
            <a:r>
              <a:rPr lang="en-US" sz="3661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Annotation</a:t>
            </a:r>
          </a:p>
          <a:p>
            <a:pPr marL="790445" lvl="1" indent="-395222" algn="l">
              <a:lnSpc>
                <a:spcPts val="5125"/>
              </a:lnSpc>
              <a:buAutoNum type="arabicPeriod"/>
            </a:pPr>
            <a:r>
              <a:rPr lang="en-US" sz="3661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User Interface</a:t>
            </a:r>
          </a:p>
          <a:p>
            <a:pPr marL="790445" lvl="1" indent="-395222" algn="l">
              <a:lnSpc>
                <a:spcPts val="5125"/>
              </a:lnSpc>
              <a:buAutoNum type="arabicPeriod"/>
            </a:pPr>
            <a:r>
              <a:rPr lang="en-US" sz="3661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Main Loop</a:t>
            </a:r>
          </a:p>
          <a:p>
            <a:pPr algn="l">
              <a:lnSpc>
                <a:spcPts val="5125"/>
              </a:lnSpc>
            </a:pPr>
            <a:endParaRPr lang="en-US" sz="3661">
              <a:solidFill>
                <a:srgbClr val="000000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411959" y="866775"/>
            <a:ext cx="13464081" cy="145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LIST OF MODULES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8" name="Group 8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66775"/>
            <a:ext cx="16230600" cy="145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REFERENCES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102533" y="3021630"/>
            <a:ext cx="15118667" cy="541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6644" lvl="1" indent="-333322" algn="l">
              <a:lnSpc>
                <a:spcPts val="4322"/>
              </a:lnSpc>
              <a:buFont typeface="Arial"/>
              <a:buChar char="•"/>
            </a:pPr>
            <a:r>
              <a:rPr lang="en-US" sz="308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  <a:hlinkClick r:id="rId2" tooltip="https://www.irjet.net/archives/V9/i7/IRJET-V9I7482.pdf"/>
              </a:rPr>
              <a:t>https://www.eurchembull.com/uploads/paper/e1872b82f7272d54308f653ddd1fc741.pdf</a:t>
            </a:r>
          </a:p>
          <a:p>
            <a:pPr marL="666644" lvl="1" indent="-333322" algn="l">
              <a:lnSpc>
                <a:spcPts val="4322"/>
              </a:lnSpc>
              <a:buFont typeface="Arial"/>
              <a:buChar char="•"/>
            </a:pPr>
            <a:r>
              <a:rPr lang="en-US" sz="308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  <a:hlinkClick r:id="rId2" tooltip="https://www.irjet.net/archives/V9/i7/IRJET-V9I7482.pdf"/>
              </a:rPr>
              <a:t>https://www.itm-conferences.org/articles/itmconf/pdf/2022/04/itmconf_icacc2022_03031.pdf</a:t>
            </a:r>
          </a:p>
          <a:p>
            <a:pPr marL="666644" lvl="1" indent="-333322" algn="l">
              <a:lnSpc>
                <a:spcPts val="4322"/>
              </a:lnSpc>
              <a:buFont typeface="Arial"/>
              <a:buChar char="•"/>
            </a:pPr>
            <a:r>
              <a:rPr lang="en-US" sz="308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  <a:hlinkClick r:id="rId2" tooltip="https://www.irjet.net/archives/V9/i7/IRJET-V9I7482.pdf"/>
              </a:rPr>
              <a:t>https://ijsetr.com/uploads/251346IJSETR16450-43.pdf</a:t>
            </a:r>
          </a:p>
          <a:p>
            <a:pPr marL="666644" lvl="1" indent="-333322" algn="l">
              <a:lnSpc>
                <a:spcPts val="4322"/>
              </a:lnSpc>
              <a:buFont typeface="Arial"/>
              <a:buChar char="•"/>
            </a:pPr>
            <a:r>
              <a:rPr lang="en-US" sz="308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https://www.irjet.net/archives/V9/i7/IRJET-V9I7482.pdf</a:t>
            </a:r>
          </a:p>
          <a:p>
            <a:pPr marL="666644" lvl="1" indent="-333322" algn="l">
              <a:lnSpc>
                <a:spcPts val="4322"/>
              </a:lnSpc>
              <a:buFont typeface="Arial"/>
              <a:buChar char="•"/>
            </a:pPr>
            <a:r>
              <a:rPr lang="en-US" sz="308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http://data.conferenceworld.in/BVCOE18/65.pdf</a:t>
            </a:r>
          </a:p>
          <a:p>
            <a:pPr marL="666644" lvl="1" indent="-333322" algn="l">
              <a:lnSpc>
                <a:spcPts val="4322"/>
              </a:lnSpc>
              <a:buFont typeface="Arial"/>
              <a:buChar char="•"/>
            </a:pPr>
            <a:r>
              <a:rPr lang="en-US" sz="308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https://airccse.org/journal/acij/papers/0512acij04.pdf</a:t>
            </a:r>
          </a:p>
          <a:p>
            <a:pPr marL="666644" lvl="1" indent="-333322" algn="l">
              <a:lnSpc>
                <a:spcPts val="4322"/>
              </a:lnSpc>
              <a:buFont typeface="Arial"/>
              <a:buChar char="•"/>
            </a:pPr>
            <a:r>
              <a:rPr lang="en-US" sz="308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https://www.ijsr.net/archive/v4i1/SUB15298.pdf</a:t>
            </a:r>
          </a:p>
          <a:p>
            <a:pPr marL="666644" lvl="1" indent="-333322" algn="l">
              <a:lnSpc>
                <a:spcPts val="4322"/>
              </a:lnSpc>
              <a:buFont typeface="Arial"/>
              <a:buChar char="•"/>
            </a:pPr>
            <a:r>
              <a:rPr lang="en-US" sz="308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https://ijirt.org/master/publishedpaper/IJIRT156612_PAPER.pdf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27362" y="0"/>
            <a:ext cx="937061" cy="10287000"/>
            <a:chOff x="0" y="0"/>
            <a:chExt cx="246798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6798" cy="2709333"/>
            </a:xfrm>
            <a:custGeom>
              <a:avLst/>
              <a:gdLst/>
              <a:ahLst/>
              <a:cxnLst/>
              <a:rect l="l" t="t" r="r" b="b"/>
              <a:pathLst>
                <a:path w="246798" h="2709333">
                  <a:moveTo>
                    <a:pt x="0" y="0"/>
                  </a:moveTo>
                  <a:lnTo>
                    <a:pt x="246798" y="0"/>
                  </a:lnTo>
                  <a:lnTo>
                    <a:pt x="24679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3EB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46798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859155" y="0"/>
            <a:ext cx="1562612" cy="2263268"/>
            <a:chOff x="0" y="0"/>
            <a:chExt cx="2083482" cy="3017691"/>
          </a:xfrm>
        </p:grpSpPr>
        <p:grpSp>
          <p:nvGrpSpPr>
            <p:cNvPr id="10" name="Group 10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0" y="437581"/>
              <a:ext cx="2083482" cy="2580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10</a:t>
              </a:r>
            </a:p>
            <a:p>
              <a:pPr algn="ctr">
                <a:lnSpc>
                  <a:spcPts val="7805"/>
                </a:lnSpc>
              </a:pPr>
              <a:endParaRPr lang="en-US" sz="557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54977" y="3748035"/>
            <a:ext cx="11627497" cy="2514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3"/>
              </a:lnSpc>
            </a:pPr>
            <a:r>
              <a:rPr lang="en-US" sz="14695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THANK YOU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4" name="Group 4"/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501</Words>
  <Application>Microsoft Office PowerPoint</Application>
  <PresentationFormat>Custom</PresentationFormat>
  <Paragraphs>70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Open Sans Bold</vt:lpstr>
      <vt:lpstr>Alatsi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Beige Pastel Minimalist Thesis Defense Presentation</dc:title>
  <cp:lastModifiedBy>Hari Dharan</cp:lastModifiedBy>
  <cp:revision>2</cp:revision>
  <dcterms:created xsi:type="dcterms:W3CDTF">2006-08-16T00:00:00Z</dcterms:created>
  <dcterms:modified xsi:type="dcterms:W3CDTF">2026-06-07T07:15:26Z</dcterms:modified>
  <dc:identifier>DAF-chwojYo</dc:identifier>
</cp:coreProperties>
</file>