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latsi" charset="1" panose="00000500000000000000"/>
      <p:regular r:id="rId20"/>
    </p:embeddedFont>
    <p:embeddedFont>
      <p:font typeface="Open Sans Bold" charset="1" panose="020B08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rjet.net/archives/V9/i7/IRJET-V9I7482.pdf" TargetMode="External" Type="http://schemas.openxmlformats.org/officeDocument/2006/relationships/hyperlink"/><Relationship Id="rId3" Target="https://www.irjet.net/archives/V9/i7/IRJET-V9I7482.pdf" TargetMode="External" Type="http://schemas.openxmlformats.org/officeDocument/2006/relationships/hyperlink"/><Relationship Id="rId4" Target="https://www.irjet.net/archives/V9/i7/IRJET-V9I7482.pdf" TargetMode="External" Type="http://schemas.openxmlformats.org/officeDocument/2006/relationships/hyperlink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5797227" y="2681129"/>
            <a:ext cx="10062805" cy="3005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Presentation Dynamics through Gesture Control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46898" y="-407075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387576" y="7436291"/>
            <a:ext cx="6882108" cy="164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Team :</a:t>
            </a:r>
          </a:p>
          <a:p>
            <a:pPr algn="ctr">
              <a:lnSpc>
                <a:spcPts val="4376"/>
              </a:lnSpc>
            </a:pPr>
            <a:r>
              <a:rPr lang="en-US" sz="312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Haridharan .K.S</a:t>
            </a:r>
          </a:p>
          <a:p>
            <a:pPr algn="ctr">
              <a:lnSpc>
                <a:spcPts val="4376"/>
              </a:lnSpc>
            </a:pPr>
            <a:r>
              <a:rPr lang="en-US" sz="312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Karthikeyan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646898" y="80194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137" y="2445994"/>
            <a:ext cx="16811727" cy="616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6651" indent="-343326" lvl="1">
              <a:lnSpc>
                <a:spcPts val="4452"/>
              </a:lnSpc>
              <a:buAutoNum type="arabicPeriod" startAt="1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Introduction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Providing an overview of the project's objective and potential benefits.</a:t>
            </a:r>
          </a:p>
          <a:p>
            <a:pPr algn="l" marL="686651" indent="-343326" lvl="1">
              <a:lnSpc>
                <a:spcPts val="4452"/>
              </a:lnSpc>
              <a:buAutoNum type="arabicPeriod" startAt="1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Gesture Recognition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Developing algorithms to accurately detect and classify hand gestures.</a:t>
            </a:r>
          </a:p>
          <a:p>
            <a:pPr algn="l" marL="686651" indent="-343326" lvl="1">
              <a:lnSpc>
                <a:spcPts val="4452"/>
              </a:lnSpc>
              <a:buAutoNum type="arabicPeriod" startAt="1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Integration with Presentation Software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Creating a software interface to translate recognized gestures into actions within presentation software.</a:t>
            </a:r>
          </a:p>
          <a:p>
            <a:pPr algn="l" marL="686651" indent="-343326" lvl="1">
              <a:lnSpc>
                <a:spcPts val="4452"/>
              </a:lnSpc>
              <a:buAutoNum type="arabicPeriod" startAt="1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User Interface Design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Designing an intuitive interface for users to configure gesture commands.</a:t>
            </a:r>
          </a:p>
          <a:p>
            <a:pPr algn="l" marL="686651" indent="-343326" lvl="1">
              <a:lnSpc>
                <a:spcPts val="4452"/>
              </a:lnSpc>
              <a:buAutoNum type="arabicPeriod" startAt="1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Implementation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Detailing the technical setup and hardware/software requirements.</a:t>
            </a:r>
          </a:p>
          <a:p>
            <a:pPr algn="l" marL="686651" indent="-343326" lvl="1">
              <a:lnSpc>
                <a:spcPts val="4452"/>
              </a:lnSpc>
              <a:buAutoNum type="arabicPeriod" startAt="1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Testing and Evaluation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Conducting rigorous testing to assess system performance and user satisfaction.</a:t>
            </a:r>
          </a:p>
          <a:p>
            <a:pPr algn="l" marL="686651" indent="-343326" lvl="1">
              <a:lnSpc>
                <a:spcPts val="4452"/>
              </a:lnSpc>
              <a:buAutoNum type="arabicPeriod" startAt="1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Conclusion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Summarizing project outcomes and highlighting future directions.</a:t>
            </a:r>
          </a:p>
          <a:p>
            <a:pPr algn="l">
              <a:lnSpc>
                <a:spcPts val="4452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12322861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296569" y="90481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553980" y="904875"/>
            <a:ext cx="13180039" cy="121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OUTLINE OF THE PROJECT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12263983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601700" y="660253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1014743"/>
            <a:ext cx="13180039" cy="125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INTRODUCTION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69212" y="3214665"/>
            <a:ext cx="15030838" cy="418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1. Project goal: Introduce intuitive, hands-free slide control with hand gestures.</a:t>
            </a:r>
          </a:p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2. Utilization of computer vision and machine learning for gesture recognition.</a:t>
            </a:r>
          </a:p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3. Recognition of specific hand movements translates to slide navigation commands.</a:t>
            </a:r>
          </a:p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4. Predefined gestures like swiping left/right advance or go back slides.</a:t>
            </a:r>
          </a:p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5. Novel, interactive presentation delivery; replaces remote controls and mouse clicks.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18390" y="885825"/>
            <a:ext cx="10451219" cy="125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PROBLEM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043842" y="3593727"/>
            <a:ext cx="6651535" cy="1936015"/>
            <a:chOff x="0" y="0"/>
            <a:chExt cx="8868713" cy="258135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868713" cy="2581354"/>
              <a:chOff x="0" y="0"/>
              <a:chExt cx="1751844" cy="50989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51844" cy="509897"/>
              </a:xfrm>
              <a:custGeom>
                <a:avLst/>
                <a:gdLst/>
                <a:ahLst/>
                <a:cxnLst/>
                <a:rect r="r" b="b" t="t" l="l"/>
                <a:pathLst>
                  <a:path h="509897" w="1751844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450537"/>
                    </a:lnTo>
                    <a:cubicBezTo>
                      <a:pt x="1751844" y="466280"/>
                      <a:pt x="1745590" y="481379"/>
                      <a:pt x="1734458" y="492511"/>
                    </a:cubicBezTo>
                    <a:cubicBezTo>
                      <a:pt x="1723326" y="503643"/>
                      <a:pt x="1708227" y="509897"/>
                      <a:pt x="1692484" y="509897"/>
                    </a:cubicBezTo>
                    <a:lnTo>
                      <a:pt x="59360" y="509897"/>
                    </a:lnTo>
                    <a:cubicBezTo>
                      <a:pt x="26577" y="509897"/>
                      <a:pt x="0" y="483320"/>
                      <a:pt x="0" y="450537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751844" cy="5479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95604" y="133350"/>
              <a:ext cx="7735510" cy="2075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Limited mobility during presentations.</a:t>
              </a:r>
            </a:p>
            <a:p>
              <a:pPr algn="l">
                <a:lnSpc>
                  <a:spcPts val="419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81683" y="2494269"/>
            <a:ext cx="4182217" cy="67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First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8998" y="2579164"/>
            <a:ext cx="8537474" cy="59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2"/>
              </a:lnSpc>
            </a:pPr>
            <a:r>
              <a:rPr lang="en-US" sz="34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1. Traditional presentation control methods are often not interactive.</a:t>
            </a:r>
          </a:p>
          <a:p>
            <a:pPr algn="l">
              <a:lnSpc>
                <a:spcPts val="4772"/>
              </a:lnSpc>
            </a:pPr>
            <a:r>
              <a:rPr lang="en-US" sz="34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2. They can be cumbersome and limit presenter mobility.</a:t>
            </a:r>
          </a:p>
          <a:p>
            <a:pPr algn="l">
              <a:lnSpc>
                <a:spcPts val="4772"/>
              </a:lnSpc>
            </a:pPr>
            <a:r>
              <a:rPr lang="en-US" sz="34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3. Lack of engagement with the audience is a concern.</a:t>
            </a:r>
          </a:p>
          <a:p>
            <a:pPr algn="l">
              <a:lnSpc>
                <a:spcPts val="4772"/>
              </a:lnSpc>
            </a:pPr>
            <a:r>
              <a:rPr lang="en-US" sz="34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4. There's a need for more intuitive and engaging control approaches.</a:t>
            </a:r>
          </a:p>
          <a:p>
            <a:pPr algn="l">
              <a:lnSpc>
                <a:spcPts val="4772"/>
              </a:lnSpc>
            </a:pPr>
            <a:r>
              <a:rPr lang="en-US" sz="34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5. Current methods may hinder interaction with the audience.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043842" y="6739482"/>
            <a:ext cx="6651535" cy="2465844"/>
            <a:chOff x="0" y="0"/>
            <a:chExt cx="8868713" cy="328779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51844" cy="649440"/>
              </a:xfrm>
              <a:custGeom>
                <a:avLst/>
                <a:gdLst/>
                <a:ahLst/>
                <a:cxnLst/>
                <a:rect r="r" b="b" t="t" l="l"/>
                <a:pathLst>
                  <a:path h="649440" w="1751844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95604" y="133350"/>
              <a:ext cx="7735510" cy="278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Potential distractions caused by managing external devices.</a:t>
              </a:r>
            </a:p>
            <a:p>
              <a:pPr algn="l">
                <a:lnSpc>
                  <a:spcPts val="4193"/>
                </a:lnSpc>
              </a:pPr>
            </a:p>
            <a:p>
              <a:pPr algn="l">
                <a:lnSpc>
                  <a:spcPts val="419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582427" y="5874732"/>
            <a:ext cx="5276728" cy="67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Second Problem</a:t>
            </a:r>
          </a:p>
        </p:txBody>
      </p:sp>
      <p:sp>
        <p:nvSpPr>
          <p:cNvPr name="AutoShape 16" id="16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091252" y="1394203"/>
            <a:ext cx="1939" cy="8892694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7512165" y="-15538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92058" y="90481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9544" y="336370"/>
            <a:ext cx="162306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425520"/>
            <a:ext cx="6243085" cy="2829328"/>
            <a:chOff x="0" y="0"/>
            <a:chExt cx="1644269" cy="7451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4269" cy="745173"/>
            </a:xfrm>
            <a:custGeom>
              <a:avLst/>
              <a:gdLst/>
              <a:ahLst/>
              <a:cxnLst/>
              <a:rect r="r" b="b" t="t" l="l"/>
              <a:pathLst>
                <a:path h="745173" w="1644269">
                  <a:moveTo>
                    <a:pt x="63244" y="0"/>
                  </a:moveTo>
                  <a:lnTo>
                    <a:pt x="1581025" y="0"/>
                  </a:lnTo>
                  <a:cubicBezTo>
                    <a:pt x="1597798" y="0"/>
                    <a:pt x="1613885" y="6663"/>
                    <a:pt x="1625746" y="18524"/>
                  </a:cubicBezTo>
                  <a:cubicBezTo>
                    <a:pt x="1637606" y="30384"/>
                    <a:pt x="1644269" y="46471"/>
                    <a:pt x="1644269" y="63244"/>
                  </a:cubicBezTo>
                  <a:lnTo>
                    <a:pt x="1644269" y="681929"/>
                  </a:lnTo>
                  <a:cubicBezTo>
                    <a:pt x="1644269" y="698702"/>
                    <a:pt x="1637606" y="714788"/>
                    <a:pt x="1625746" y="726649"/>
                  </a:cubicBezTo>
                  <a:cubicBezTo>
                    <a:pt x="1613885" y="738510"/>
                    <a:pt x="1597798" y="745173"/>
                    <a:pt x="1581025" y="745173"/>
                  </a:cubicBezTo>
                  <a:lnTo>
                    <a:pt x="63244" y="745173"/>
                  </a:lnTo>
                  <a:cubicBezTo>
                    <a:pt x="46471" y="745173"/>
                    <a:pt x="30384" y="738510"/>
                    <a:pt x="18524" y="726649"/>
                  </a:cubicBezTo>
                  <a:cubicBezTo>
                    <a:pt x="6663" y="714788"/>
                    <a:pt x="0" y="698702"/>
                    <a:pt x="0" y="681929"/>
                  </a:cubicBezTo>
                  <a:lnTo>
                    <a:pt x="0" y="63244"/>
                  </a:lnTo>
                  <a:cubicBezTo>
                    <a:pt x="0" y="46471"/>
                    <a:pt x="6663" y="30384"/>
                    <a:pt x="18524" y="18524"/>
                  </a:cubicBezTo>
                  <a:cubicBezTo>
                    <a:pt x="30384" y="6663"/>
                    <a:pt x="46471" y="0"/>
                    <a:pt x="63244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44269" cy="78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84791" y="3601236"/>
            <a:ext cx="5499127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Designing a user-friendly interface for customization.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4463" y="2724985"/>
            <a:ext cx="387823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 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451367" y="603589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675836" y="2458005"/>
            <a:ext cx="6433131" cy="2796843"/>
            <a:chOff x="0" y="0"/>
            <a:chExt cx="1694323" cy="7366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4323" cy="736617"/>
            </a:xfrm>
            <a:custGeom>
              <a:avLst/>
              <a:gdLst/>
              <a:ahLst/>
              <a:cxnLst/>
              <a:rect r="r" b="b" t="t" l="l"/>
              <a:pathLst>
                <a:path h="736617" w="1694323">
                  <a:moveTo>
                    <a:pt x="61376" y="0"/>
                  </a:moveTo>
                  <a:lnTo>
                    <a:pt x="1632947" y="0"/>
                  </a:lnTo>
                  <a:cubicBezTo>
                    <a:pt x="1666844" y="0"/>
                    <a:pt x="1694323" y="27479"/>
                    <a:pt x="1694323" y="61376"/>
                  </a:cubicBezTo>
                  <a:lnTo>
                    <a:pt x="1694323" y="675241"/>
                  </a:lnTo>
                  <a:cubicBezTo>
                    <a:pt x="1694323" y="691519"/>
                    <a:pt x="1687856" y="707130"/>
                    <a:pt x="1676346" y="718641"/>
                  </a:cubicBezTo>
                  <a:cubicBezTo>
                    <a:pt x="1664836" y="730151"/>
                    <a:pt x="1649225" y="736617"/>
                    <a:pt x="1632947" y="736617"/>
                  </a:cubicBezTo>
                  <a:lnTo>
                    <a:pt x="61376" y="736617"/>
                  </a:lnTo>
                  <a:cubicBezTo>
                    <a:pt x="27479" y="736617"/>
                    <a:pt x="0" y="709138"/>
                    <a:pt x="0" y="675241"/>
                  </a:cubicBezTo>
                  <a:lnTo>
                    <a:pt x="0" y="61376"/>
                  </a:lnTo>
                  <a:cubicBezTo>
                    <a:pt x="0" y="45098"/>
                    <a:pt x="6466" y="29487"/>
                    <a:pt x="17977" y="17977"/>
                  </a:cubicBezTo>
                  <a:cubicBezTo>
                    <a:pt x="29487" y="6466"/>
                    <a:pt x="45098" y="0"/>
                    <a:pt x="61376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94323" cy="774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925647" y="3620286"/>
            <a:ext cx="6183320" cy="140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7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Integrating the gesture recognition system with presentation software for seamless control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5647" y="2724985"/>
            <a:ext cx="387823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 2</a:t>
            </a:r>
          </a:p>
        </p:txBody>
      </p:sp>
      <p:sp>
        <p:nvSpPr>
          <p:cNvPr name="AutoShape 14" id="14"/>
          <p:cNvSpPr/>
          <p:nvPr/>
        </p:nvSpPr>
        <p:spPr>
          <a:xfrm>
            <a:off x="-260599" y="9061267"/>
            <a:ext cx="11690768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2243137" y="-40227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612630" y="5657301"/>
            <a:ext cx="6754056" cy="3032366"/>
            <a:chOff x="0" y="0"/>
            <a:chExt cx="1778846" cy="7986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78846" cy="798648"/>
            </a:xfrm>
            <a:custGeom>
              <a:avLst/>
              <a:gdLst/>
              <a:ahLst/>
              <a:cxnLst/>
              <a:rect r="r" b="b" t="t" l="l"/>
              <a:pathLst>
                <a:path h="798648" w="1778846">
                  <a:moveTo>
                    <a:pt x="58459" y="0"/>
                  </a:moveTo>
                  <a:lnTo>
                    <a:pt x="1720386" y="0"/>
                  </a:lnTo>
                  <a:cubicBezTo>
                    <a:pt x="1752673" y="0"/>
                    <a:pt x="1778846" y="26173"/>
                    <a:pt x="1778846" y="58459"/>
                  </a:cubicBezTo>
                  <a:lnTo>
                    <a:pt x="1778846" y="740188"/>
                  </a:lnTo>
                  <a:cubicBezTo>
                    <a:pt x="1778846" y="772475"/>
                    <a:pt x="1752673" y="798648"/>
                    <a:pt x="1720386" y="798648"/>
                  </a:cubicBezTo>
                  <a:lnTo>
                    <a:pt x="58459" y="798648"/>
                  </a:lnTo>
                  <a:cubicBezTo>
                    <a:pt x="26173" y="798648"/>
                    <a:pt x="0" y="772475"/>
                    <a:pt x="0" y="740188"/>
                  </a:cubicBezTo>
                  <a:lnTo>
                    <a:pt x="0" y="58459"/>
                  </a:lnTo>
                  <a:cubicBezTo>
                    <a:pt x="0" y="26173"/>
                    <a:pt x="26173" y="0"/>
                    <a:pt x="58459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778846" cy="836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240094" y="6065974"/>
            <a:ext cx="342371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 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40094" y="7072956"/>
            <a:ext cx="5499127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Implement gesture recognition for diverse commands.</a:t>
            </a:r>
          </a:p>
          <a:p>
            <a:pPr algn="l">
              <a:lnSpc>
                <a:spcPts val="43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6775"/>
            <a:ext cx="162306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LITERARY REVIEW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62822" y="9827255"/>
            <a:ext cx="15069446" cy="1431443"/>
            <a:chOff x="0" y="0"/>
            <a:chExt cx="20092595" cy="190859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0092595" cy="689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2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19388"/>
              <a:ext cx="20092595" cy="689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 flipV="true">
            <a:off x="1090490" y="2892931"/>
            <a:ext cx="762" cy="739396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697545" y="861589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64423" y="-164117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782399" y="2898774"/>
            <a:ext cx="12723203" cy="5136098"/>
          </a:xfrm>
          <a:custGeom>
            <a:avLst/>
            <a:gdLst/>
            <a:ahLst/>
            <a:cxnLst/>
            <a:rect r="r" b="b" t="t" l="l"/>
            <a:pathLst>
              <a:path h="5136098" w="12723203">
                <a:moveTo>
                  <a:pt x="0" y="0"/>
                </a:moveTo>
                <a:lnTo>
                  <a:pt x="12723202" y="0"/>
                </a:lnTo>
                <a:lnTo>
                  <a:pt x="12723202" y="5136099"/>
                </a:lnTo>
                <a:lnTo>
                  <a:pt x="0" y="5136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6775"/>
            <a:ext cx="162306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LITERARY REVIEW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352321" y="9827255"/>
            <a:ext cx="15069446" cy="1431443"/>
            <a:chOff x="0" y="0"/>
            <a:chExt cx="20092595" cy="190859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0092595" cy="689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2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19388"/>
              <a:ext cx="20092595" cy="689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 flipV="true">
            <a:off x="1090490" y="2892931"/>
            <a:ext cx="762" cy="739396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69754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64423" y="-164117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870111" y="3410418"/>
            <a:ext cx="12547778" cy="4736038"/>
          </a:xfrm>
          <a:custGeom>
            <a:avLst/>
            <a:gdLst/>
            <a:ahLst/>
            <a:cxnLst/>
            <a:rect r="r" b="b" t="t" l="l"/>
            <a:pathLst>
              <a:path h="4736038" w="12547778">
                <a:moveTo>
                  <a:pt x="0" y="0"/>
                </a:moveTo>
                <a:lnTo>
                  <a:pt x="12547778" y="0"/>
                </a:lnTo>
                <a:lnTo>
                  <a:pt x="12547778" y="4736038"/>
                </a:lnTo>
                <a:lnTo>
                  <a:pt x="0" y="4736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9061267"/>
            <a:ext cx="11690768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2861" y="642887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53980" y="904875"/>
            <a:ext cx="13180039" cy="1094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PROPOSED SYSTEM INTRODUCTION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4171773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61419" y="3180466"/>
            <a:ext cx="14879042" cy="321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1. Hands-free slide navigation with Gesture-Controlled PowerPoint.</a:t>
            </a:r>
          </a:p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2. Utilizes computer vision and AI for intuitive slide control.</a:t>
            </a:r>
          </a:p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3. Enhances engagement and interactivity in presentations.</a:t>
            </a:r>
          </a:p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4. Simple hand gestures replace traditional input methods.</a:t>
            </a:r>
          </a:p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5. Integration of OpenCV ensures efficiency and user-friendliness.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6347" y="904875"/>
            <a:ext cx="15815306" cy="121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PROPOSED SYSTEM DIAGRAM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918199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36347" y="3362069"/>
            <a:ext cx="16022953" cy="3851416"/>
          </a:xfrm>
          <a:custGeom>
            <a:avLst/>
            <a:gdLst/>
            <a:ahLst/>
            <a:cxnLst/>
            <a:rect r="r" b="b" t="t" l="l"/>
            <a:pathLst>
              <a:path h="3851416" w="16022953">
                <a:moveTo>
                  <a:pt x="0" y="0"/>
                </a:moveTo>
                <a:lnTo>
                  <a:pt x="16022953" y="0"/>
                </a:lnTo>
                <a:lnTo>
                  <a:pt x="16022953" y="3851415"/>
                </a:lnTo>
                <a:lnTo>
                  <a:pt x="0" y="3851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38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30169" y="640425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3120" y="2726106"/>
            <a:ext cx="14847341" cy="580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445" indent="-395222" lvl="1">
              <a:lnSpc>
                <a:spcPts val="5125"/>
              </a:lnSpc>
              <a:buAutoNum type="arabicPeriod" startAt="1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Hand Tracking Module</a:t>
            </a:r>
          </a:p>
          <a:p>
            <a:pPr algn="l" marL="790445" indent="-395222" lvl="1">
              <a:lnSpc>
                <a:spcPts val="5125"/>
              </a:lnSpc>
              <a:buAutoNum type="arabicPeriod" startAt="1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Camera Setup</a:t>
            </a:r>
          </a:p>
          <a:p>
            <a:pPr algn="l" marL="790445" indent="-395222" lvl="1">
              <a:lnSpc>
                <a:spcPts val="5125"/>
              </a:lnSpc>
              <a:buAutoNum type="arabicPeriod" startAt="1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Variables and Parameters</a:t>
            </a:r>
          </a:p>
          <a:p>
            <a:pPr algn="l" marL="790445" indent="-395222" lvl="1">
              <a:lnSpc>
                <a:spcPts val="5125"/>
              </a:lnSpc>
              <a:buAutoNum type="arabicPeriod" startAt="1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Gesture Detection</a:t>
            </a:r>
          </a:p>
          <a:p>
            <a:pPr algn="l" marL="790445" indent="-395222" lvl="1">
              <a:lnSpc>
                <a:spcPts val="5125"/>
              </a:lnSpc>
              <a:buAutoNum type="arabicPeriod" startAt="1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Slide Navigation</a:t>
            </a:r>
          </a:p>
          <a:p>
            <a:pPr algn="l" marL="790445" indent="-395222" lvl="1">
              <a:lnSpc>
                <a:spcPts val="5125"/>
              </a:lnSpc>
              <a:buAutoNum type="arabicPeriod" startAt="1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Annotation</a:t>
            </a:r>
          </a:p>
          <a:p>
            <a:pPr algn="l" marL="790445" indent="-395222" lvl="1">
              <a:lnSpc>
                <a:spcPts val="5125"/>
              </a:lnSpc>
              <a:buAutoNum type="arabicPeriod" startAt="1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User Interface</a:t>
            </a:r>
          </a:p>
          <a:p>
            <a:pPr algn="l" marL="790445" indent="-395222" lvl="1">
              <a:lnSpc>
                <a:spcPts val="5125"/>
              </a:lnSpc>
              <a:buAutoNum type="arabicPeriod" startAt="1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Main Loop</a:t>
            </a:r>
          </a:p>
          <a:p>
            <a:pPr algn="l">
              <a:lnSpc>
                <a:spcPts val="512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411959" y="866775"/>
            <a:ext cx="13464081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LIST OF MODULES</a:t>
            </a:r>
          </a:p>
        </p:txBody>
      </p:sp>
      <p:sp>
        <p:nvSpPr>
          <p:cNvPr name="AutoShape 5" id="5"/>
          <p:cNvSpPr/>
          <p:nvPr/>
        </p:nvSpPr>
        <p:spPr>
          <a:xfrm>
            <a:off x="-260599" y="9061267"/>
            <a:ext cx="11690768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657600" y="-40227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082" y="-189564"/>
            <a:ext cx="15815306" cy="121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CODE</a:t>
            </a: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11690768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725388" y="-355619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3657600" y="-35561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585054" y="588181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9953" y="336540"/>
            <a:ext cx="7321760" cy="9572125"/>
          </a:xfrm>
          <a:custGeom>
            <a:avLst/>
            <a:gdLst/>
            <a:ahLst/>
            <a:cxnLst/>
            <a:rect r="r" b="b" t="t" l="l"/>
            <a:pathLst>
              <a:path h="9572125" w="7321760">
                <a:moveTo>
                  <a:pt x="0" y="0"/>
                </a:moveTo>
                <a:lnTo>
                  <a:pt x="7321761" y="0"/>
                </a:lnTo>
                <a:lnTo>
                  <a:pt x="7321761" y="9572125"/>
                </a:lnTo>
                <a:lnTo>
                  <a:pt x="0" y="9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89991" y="336540"/>
            <a:ext cx="7079384" cy="9572125"/>
          </a:xfrm>
          <a:custGeom>
            <a:avLst/>
            <a:gdLst/>
            <a:ahLst/>
            <a:cxnLst/>
            <a:rect r="r" b="b" t="t" l="l"/>
            <a:pathLst>
              <a:path h="9572125" w="7079384">
                <a:moveTo>
                  <a:pt x="0" y="0"/>
                </a:moveTo>
                <a:lnTo>
                  <a:pt x="7079384" y="0"/>
                </a:lnTo>
                <a:lnTo>
                  <a:pt x="7079384" y="9572125"/>
                </a:lnTo>
                <a:lnTo>
                  <a:pt x="0" y="9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082" y="-189564"/>
            <a:ext cx="15815306" cy="121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OUTPUT</a:t>
            </a: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11690768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725388" y="-355619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3657600" y="-35561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585054" y="588181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364808" y="1586225"/>
            <a:ext cx="13084230" cy="7114550"/>
          </a:xfrm>
          <a:custGeom>
            <a:avLst/>
            <a:gdLst/>
            <a:ahLst/>
            <a:cxnLst/>
            <a:rect r="r" b="b" t="t" l="l"/>
            <a:pathLst>
              <a:path h="7114550" w="13084230">
                <a:moveTo>
                  <a:pt x="0" y="0"/>
                </a:moveTo>
                <a:lnTo>
                  <a:pt x="13084230" y="0"/>
                </a:lnTo>
                <a:lnTo>
                  <a:pt x="13084230" y="7114550"/>
                </a:lnTo>
                <a:lnTo>
                  <a:pt x="0" y="7114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6775"/>
            <a:ext cx="162306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02533" y="3021630"/>
            <a:ext cx="15118667" cy="541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644" indent="-333322" lvl="1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  <a:hlinkClick r:id="rId2" tooltip="https://www.irjet.net/archives/V9/i7/IRJET-V9I7482.pdf"/>
              </a:rPr>
              <a:t>https://www.eurchembull.com/uploads/paper/e1872b82f7272d54308f653ddd1fc741.pdf</a:t>
            </a:r>
          </a:p>
          <a:p>
            <a:pPr algn="l" marL="666644" indent="-333322" lvl="1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  <a:hlinkClick r:id="rId3" tooltip="https://www.irjet.net/archives/V9/i7/IRJET-V9I7482.pdf"/>
              </a:rPr>
              <a:t>https://www.itm-conferences.org/articles/itmconf/pdf/2022/04/itmconf_icacc2022_03031.pdf</a:t>
            </a:r>
          </a:p>
          <a:p>
            <a:pPr algn="l" marL="666644" indent="-333322" lvl="1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  <a:hlinkClick r:id="rId4" tooltip="https://www.irjet.net/archives/V9/i7/IRJET-V9I7482.pdf"/>
              </a:rPr>
              <a:t>https://ijsetr.com/uploads/251346IJSETR16450-43.pdf</a:t>
            </a:r>
          </a:p>
          <a:p>
            <a:pPr algn="l" marL="666644" indent="-333322" lvl="1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https://www.irjet.net/archives/V9/i7/IRJET-V9I7482.pdf</a:t>
            </a:r>
          </a:p>
          <a:p>
            <a:pPr algn="l" marL="666644" indent="-333322" lvl="1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http://data.conferenceworld.in/BVCOE18/65.pdf</a:t>
            </a:r>
          </a:p>
          <a:p>
            <a:pPr algn="l" marL="666644" indent="-333322" lvl="1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https://airccse.org/journal/acij/papers/0512acij04.pdf</a:t>
            </a:r>
          </a:p>
          <a:p>
            <a:pPr algn="l" marL="666644" indent="-333322" lvl="1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https://www.ijsr.net/archive/v4i1/SUB15298.pdf</a:t>
            </a:r>
          </a:p>
          <a:p>
            <a:pPr algn="l" marL="666644" indent="-333322" lvl="1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https://ijirt.org/master/publishedpaper/IJIRT156612_PAPER.pdf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H="true" flipV="true">
            <a:off x="1090490" y="2892931"/>
            <a:ext cx="762" cy="739396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789431" y="824674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27362" y="-100144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54977" y="3748035"/>
            <a:ext cx="11627497" cy="251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DAF-chwojYo</dc:identifier>
  <dcterms:modified xsi:type="dcterms:W3CDTF">2011-08-01T06:04:30Z</dcterms:modified>
  <cp:revision>1</cp:revision>
  <dc:title>Beige Pastel Minimalist Thesis Defense Presentation</dc:title>
</cp:coreProperties>
</file>